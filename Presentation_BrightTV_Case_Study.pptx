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Excel%20Bright%20TV%20Mashego%20Lerat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Excel%20Bright%20TV%20Mashego%20Lerat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Excel%20Bright%20TV%20Mashego%20Lerat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Excel%20Bright%20TV%20Mashego%20Lerat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Excel%20Bright%20TV%20Mashego%20Lerato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Excel%20Bright%20TV%20Mashego%20Lerato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Bright TV Mashego Lerato.xlsx]Daily Sessions!PivotTable1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Daily Sessions (SAST)</a:t>
            </a:r>
          </a:p>
        </c:rich>
      </c:tx>
      <c:layout>
        <c:manualLayout>
          <c:xMode val="edge"/>
          <c:yMode val="edge"/>
          <c:x val="0.32739566929133856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'Daily Sessions'!$B$3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'Daily Sessions'!$A$4:$A$94</c:f>
              <c:strCache>
                <c:ptCount val="90"/>
                <c:pt idx="0">
                  <c:v>01-Jan</c:v>
                </c:pt>
                <c:pt idx="1">
                  <c:v>02-Jan</c:v>
                </c:pt>
                <c:pt idx="2">
                  <c:v>03-Jan</c:v>
                </c:pt>
                <c:pt idx="3">
                  <c:v>04-Jan</c:v>
                </c:pt>
                <c:pt idx="4">
                  <c:v>05-Jan</c:v>
                </c:pt>
                <c:pt idx="5">
                  <c:v>06-Jan</c:v>
                </c:pt>
                <c:pt idx="6">
                  <c:v>07-Jan</c:v>
                </c:pt>
                <c:pt idx="7">
                  <c:v>08-Jan</c:v>
                </c:pt>
                <c:pt idx="8">
                  <c:v>09-Jan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01-Feb</c:v>
                </c:pt>
                <c:pt idx="32">
                  <c:v>02-Feb</c:v>
                </c:pt>
                <c:pt idx="33">
                  <c:v>03-Feb</c:v>
                </c:pt>
                <c:pt idx="34">
                  <c:v>04-Feb</c:v>
                </c:pt>
                <c:pt idx="35">
                  <c:v>05-Feb</c:v>
                </c:pt>
                <c:pt idx="36">
                  <c:v>06-Feb</c:v>
                </c:pt>
                <c:pt idx="37">
                  <c:v>07-Feb</c:v>
                </c:pt>
                <c:pt idx="38">
                  <c:v>08-Feb</c:v>
                </c:pt>
                <c:pt idx="39">
                  <c:v>09-Feb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  <c:pt idx="45">
                  <c:v>15-Feb</c:v>
                </c:pt>
                <c:pt idx="46">
                  <c:v>16-Feb</c:v>
                </c:pt>
                <c:pt idx="47">
                  <c:v>17-Feb</c:v>
                </c:pt>
                <c:pt idx="48">
                  <c:v>18-Feb</c:v>
                </c:pt>
                <c:pt idx="49">
                  <c:v>19-Feb</c:v>
                </c:pt>
                <c:pt idx="50">
                  <c:v>20-Feb</c:v>
                </c:pt>
                <c:pt idx="51">
                  <c:v>21-Feb</c:v>
                </c:pt>
                <c:pt idx="52">
                  <c:v>22-Feb</c:v>
                </c:pt>
                <c:pt idx="53">
                  <c:v>23-Feb</c:v>
                </c:pt>
                <c:pt idx="54">
                  <c:v>24-Feb</c:v>
                </c:pt>
                <c:pt idx="55">
                  <c:v>25-Feb</c:v>
                </c:pt>
                <c:pt idx="56">
                  <c:v>26-Feb</c:v>
                </c:pt>
                <c:pt idx="57">
                  <c:v>27-Feb</c:v>
                </c:pt>
                <c:pt idx="58">
                  <c:v>28-Feb</c:v>
                </c:pt>
                <c:pt idx="59">
                  <c:v>01-Mar</c:v>
                </c:pt>
                <c:pt idx="60">
                  <c:v>02-Mar</c:v>
                </c:pt>
                <c:pt idx="61">
                  <c:v>03-Mar</c:v>
                </c:pt>
                <c:pt idx="62">
                  <c:v>04-Mar</c:v>
                </c:pt>
                <c:pt idx="63">
                  <c:v>05-Mar</c:v>
                </c:pt>
                <c:pt idx="64">
                  <c:v>06-Mar</c:v>
                </c:pt>
                <c:pt idx="65">
                  <c:v>07-Mar</c:v>
                </c:pt>
                <c:pt idx="66">
                  <c:v>08-Mar</c:v>
                </c:pt>
                <c:pt idx="67">
                  <c:v>09-Mar</c:v>
                </c:pt>
                <c:pt idx="68">
                  <c:v>10-Mar</c:v>
                </c:pt>
                <c:pt idx="69">
                  <c:v>11-Mar</c:v>
                </c:pt>
                <c:pt idx="70">
                  <c:v>12-Mar</c:v>
                </c:pt>
                <c:pt idx="71">
                  <c:v>13-Mar</c:v>
                </c:pt>
                <c:pt idx="72">
                  <c:v>14-Mar</c:v>
                </c:pt>
                <c:pt idx="73">
                  <c:v>15-Mar</c:v>
                </c:pt>
                <c:pt idx="74">
                  <c:v>16-Mar</c:v>
                </c:pt>
                <c:pt idx="75">
                  <c:v>17-Mar</c:v>
                </c:pt>
                <c:pt idx="76">
                  <c:v>18-Mar</c:v>
                </c:pt>
                <c:pt idx="77">
                  <c:v>19-Mar</c:v>
                </c:pt>
                <c:pt idx="78">
                  <c:v>20-Mar</c:v>
                </c:pt>
                <c:pt idx="79">
                  <c:v>21-Mar</c:v>
                </c:pt>
                <c:pt idx="80">
                  <c:v>22-Mar</c:v>
                </c:pt>
                <c:pt idx="81">
                  <c:v>23-Mar</c:v>
                </c:pt>
                <c:pt idx="82">
                  <c:v>24-Mar</c:v>
                </c:pt>
                <c:pt idx="83">
                  <c:v>25-Mar</c:v>
                </c:pt>
                <c:pt idx="84">
                  <c:v>26-Mar</c:v>
                </c:pt>
                <c:pt idx="85">
                  <c:v>27-Mar</c:v>
                </c:pt>
                <c:pt idx="86">
                  <c:v>28-Mar</c:v>
                </c:pt>
                <c:pt idx="87">
                  <c:v>29-Mar</c:v>
                </c:pt>
                <c:pt idx="88">
                  <c:v>30-Mar</c:v>
                </c:pt>
                <c:pt idx="89">
                  <c:v>31-Mar</c:v>
                </c:pt>
              </c:strCache>
            </c:strRef>
          </c:cat>
          <c:val>
            <c:numRef>
              <c:f>'Daily Sessions'!$B$4:$B$94</c:f>
              <c:numCache>
                <c:formatCode>General</c:formatCode>
                <c:ptCount val="90"/>
                <c:pt idx="0">
                  <c:v>70</c:v>
                </c:pt>
                <c:pt idx="1">
                  <c:v>73</c:v>
                </c:pt>
                <c:pt idx="2">
                  <c:v>72</c:v>
                </c:pt>
                <c:pt idx="3">
                  <c:v>60</c:v>
                </c:pt>
                <c:pt idx="4">
                  <c:v>85</c:v>
                </c:pt>
                <c:pt idx="5">
                  <c:v>85</c:v>
                </c:pt>
                <c:pt idx="6">
                  <c:v>67</c:v>
                </c:pt>
                <c:pt idx="7">
                  <c:v>84</c:v>
                </c:pt>
                <c:pt idx="8">
                  <c:v>79</c:v>
                </c:pt>
                <c:pt idx="9">
                  <c:v>58</c:v>
                </c:pt>
                <c:pt idx="10">
                  <c:v>76</c:v>
                </c:pt>
                <c:pt idx="11">
                  <c:v>69</c:v>
                </c:pt>
                <c:pt idx="12">
                  <c:v>66</c:v>
                </c:pt>
                <c:pt idx="13">
                  <c:v>84</c:v>
                </c:pt>
                <c:pt idx="14">
                  <c:v>85</c:v>
                </c:pt>
                <c:pt idx="15">
                  <c:v>89</c:v>
                </c:pt>
                <c:pt idx="16">
                  <c:v>48</c:v>
                </c:pt>
                <c:pt idx="17">
                  <c:v>57</c:v>
                </c:pt>
                <c:pt idx="18">
                  <c:v>70</c:v>
                </c:pt>
                <c:pt idx="19">
                  <c:v>67</c:v>
                </c:pt>
                <c:pt idx="20">
                  <c:v>79</c:v>
                </c:pt>
                <c:pt idx="21">
                  <c:v>85</c:v>
                </c:pt>
                <c:pt idx="22">
                  <c:v>93</c:v>
                </c:pt>
                <c:pt idx="23">
                  <c:v>57</c:v>
                </c:pt>
                <c:pt idx="24">
                  <c:v>48</c:v>
                </c:pt>
                <c:pt idx="25">
                  <c:v>70</c:v>
                </c:pt>
                <c:pt idx="26">
                  <c:v>62</c:v>
                </c:pt>
                <c:pt idx="27">
                  <c:v>63</c:v>
                </c:pt>
                <c:pt idx="28">
                  <c:v>73</c:v>
                </c:pt>
                <c:pt idx="29">
                  <c:v>73</c:v>
                </c:pt>
                <c:pt idx="30">
                  <c:v>56</c:v>
                </c:pt>
                <c:pt idx="31">
                  <c:v>61</c:v>
                </c:pt>
                <c:pt idx="32">
                  <c:v>121</c:v>
                </c:pt>
                <c:pt idx="33">
                  <c:v>83</c:v>
                </c:pt>
                <c:pt idx="34">
                  <c:v>78</c:v>
                </c:pt>
                <c:pt idx="35">
                  <c:v>95</c:v>
                </c:pt>
                <c:pt idx="36">
                  <c:v>124</c:v>
                </c:pt>
                <c:pt idx="37">
                  <c:v>72</c:v>
                </c:pt>
                <c:pt idx="38">
                  <c:v>45</c:v>
                </c:pt>
                <c:pt idx="39">
                  <c:v>79</c:v>
                </c:pt>
                <c:pt idx="40">
                  <c:v>62</c:v>
                </c:pt>
                <c:pt idx="41">
                  <c:v>66</c:v>
                </c:pt>
                <c:pt idx="42">
                  <c:v>101</c:v>
                </c:pt>
                <c:pt idx="43">
                  <c:v>97</c:v>
                </c:pt>
                <c:pt idx="44">
                  <c:v>86</c:v>
                </c:pt>
                <c:pt idx="45">
                  <c:v>81</c:v>
                </c:pt>
                <c:pt idx="46">
                  <c:v>63</c:v>
                </c:pt>
                <c:pt idx="47">
                  <c:v>73</c:v>
                </c:pt>
                <c:pt idx="48">
                  <c:v>162</c:v>
                </c:pt>
                <c:pt idx="49">
                  <c:v>270</c:v>
                </c:pt>
                <c:pt idx="50">
                  <c:v>117</c:v>
                </c:pt>
                <c:pt idx="51">
                  <c:v>178</c:v>
                </c:pt>
                <c:pt idx="52">
                  <c:v>109</c:v>
                </c:pt>
                <c:pt idx="53">
                  <c:v>90</c:v>
                </c:pt>
                <c:pt idx="54">
                  <c:v>190</c:v>
                </c:pt>
                <c:pt idx="55">
                  <c:v>122</c:v>
                </c:pt>
                <c:pt idx="56">
                  <c:v>123</c:v>
                </c:pt>
                <c:pt idx="57">
                  <c:v>122</c:v>
                </c:pt>
                <c:pt idx="58">
                  <c:v>106</c:v>
                </c:pt>
                <c:pt idx="59">
                  <c:v>153</c:v>
                </c:pt>
                <c:pt idx="60">
                  <c:v>137</c:v>
                </c:pt>
                <c:pt idx="61">
                  <c:v>198</c:v>
                </c:pt>
                <c:pt idx="62">
                  <c:v>166</c:v>
                </c:pt>
                <c:pt idx="63">
                  <c:v>198</c:v>
                </c:pt>
                <c:pt idx="64">
                  <c:v>210</c:v>
                </c:pt>
                <c:pt idx="65">
                  <c:v>120</c:v>
                </c:pt>
                <c:pt idx="66">
                  <c:v>123</c:v>
                </c:pt>
                <c:pt idx="67">
                  <c:v>108</c:v>
                </c:pt>
                <c:pt idx="68">
                  <c:v>97</c:v>
                </c:pt>
                <c:pt idx="69">
                  <c:v>141</c:v>
                </c:pt>
                <c:pt idx="70">
                  <c:v>203</c:v>
                </c:pt>
                <c:pt idx="71">
                  <c:v>146</c:v>
                </c:pt>
                <c:pt idx="72">
                  <c:v>92</c:v>
                </c:pt>
                <c:pt idx="73">
                  <c:v>104</c:v>
                </c:pt>
                <c:pt idx="74">
                  <c:v>65</c:v>
                </c:pt>
                <c:pt idx="75">
                  <c:v>60</c:v>
                </c:pt>
                <c:pt idx="76">
                  <c:v>123</c:v>
                </c:pt>
                <c:pt idx="77">
                  <c:v>192</c:v>
                </c:pt>
                <c:pt idx="78">
                  <c:v>173</c:v>
                </c:pt>
                <c:pt idx="79">
                  <c:v>77</c:v>
                </c:pt>
                <c:pt idx="80">
                  <c:v>74</c:v>
                </c:pt>
                <c:pt idx="81">
                  <c:v>189</c:v>
                </c:pt>
                <c:pt idx="82">
                  <c:v>267</c:v>
                </c:pt>
                <c:pt idx="83">
                  <c:v>226</c:v>
                </c:pt>
                <c:pt idx="84">
                  <c:v>195</c:v>
                </c:pt>
                <c:pt idx="85">
                  <c:v>136</c:v>
                </c:pt>
                <c:pt idx="86">
                  <c:v>148</c:v>
                </c:pt>
                <c:pt idx="87">
                  <c:v>220</c:v>
                </c:pt>
                <c:pt idx="88">
                  <c:v>352</c:v>
                </c:pt>
                <c:pt idx="89">
                  <c:v>128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23-4B31-99C2-0FC2977BBC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28618639"/>
        <c:axId val="1828608655"/>
      </c:lineChart>
      <c:catAx>
        <c:axId val="1828618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8608655"/>
        <c:crosses val="autoZero"/>
        <c:auto val="1"/>
        <c:lblAlgn val="ctr"/>
        <c:lblOffset val="100"/>
        <c:noMultiLvlLbl val="0"/>
      </c:catAx>
      <c:valAx>
        <c:axId val="1828608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8618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Bright TV Mashego Lerato.xlsx]Hourly Distribution of Sessions!PivotTable2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baseline="0"/>
              <a:t>Hourly Distribution of Sessions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</c:pivotFmt>
      <c:pivotFmt>
        <c:idx val="41"/>
        <c:spPr>
          <a:solidFill>
            <a:schemeClr val="accent2"/>
          </a:solidFill>
          <a:ln>
            <a:noFill/>
          </a:ln>
          <a:effectLst/>
        </c:spPr>
      </c:pivotFmt>
      <c:pivotFmt>
        <c:idx val="42"/>
        <c:spPr>
          <a:solidFill>
            <a:schemeClr val="accent2"/>
          </a:solidFill>
          <a:ln>
            <a:noFill/>
          </a:ln>
          <a:effectLst/>
        </c:spPr>
      </c:pivotFmt>
      <c:pivotFmt>
        <c:idx val="43"/>
        <c:spPr>
          <a:solidFill>
            <a:schemeClr val="accent2"/>
          </a:solidFill>
          <a:ln>
            <a:noFill/>
          </a:ln>
          <a:effectLst/>
        </c:spPr>
      </c:pivotFmt>
      <c:pivotFmt>
        <c:idx val="44"/>
        <c:spPr>
          <a:solidFill>
            <a:schemeClr val="accent2"/>
          </a:solidFill>
          <a:ln>
            <a:noFill/>
          </a:ln>
          <a:effectLst/>
        </c:spPr>
      </c:pivotFmt>
      <c:pivotFmt>
        <c:idx val="45"/>
        <c:spPr>
          <a:solidFill>
            <a:schemeClr val="accent2"/>
          </a:solidFill>
          <a:ln>
            <a:noFill/>
          </a:ln>
          <a:effectLst/>
        </c:spPr>
      </c:pivotFmt>
      <c:pivotFmt>
        <c:idx val="46"/>
        <c:spPr>
          <a:solidFill>
            <a:schemeClr val="accent2"/>
          </a:solidFill>
          <a:ln>
            <a:noFill/>
          </a:ln>
          <a:effectLst/>
        </c:spPr>
      </c:pivotFmt>
      <c:pivotFmt>
        <c:idx val="47"/>
        <c:spPr>
          <a:solidFill>
            <a:schemeClr val="accent2"/>
          </a:solidFill>
          <a:ln>
            <a:noFill/>
          </a:ln>
          <a:effectLst/>
        </c:spPr>
      </c:pivotFmt>
      <c:pivotFmt>
        <c:idx val="48"/>
        <c:spPr>
          <a:solidFill>
            <a:schemeClr val="accent2"/>
          </a:solidFill>
          <a:ln>
            <a:noFill/>
          </a:ln>
          <a:effectLst/>
        </c:spPr>
      </c:pivotFmt>
      <c:pivotFmt>
        <c:idx val="49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'Hourly Distribution of Sessions'!$B$3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20-4E51-AD0C-0EE7B5061F2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20-4E51-AD0C-0EE7B5061F2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20-4E51-AD0C-0EE7B5061F2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520-4E51-AD0C-0EE7B5061F2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520-4E51-AD0C-0EE7B5061F2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520-4E51-AD0C-0EE7B5061F2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520-4E51-AD0C-0EE7B5061F2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520-4E51-AD0C-0EE7B5061F2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520-4E51-AD0C-0EE7B5061F2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520-4E51-AD0C-0EE7B5061F25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520-4E51-AD0C-0EE7B5061F25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520-4E51-AD0C-0EE7B5061F25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520-4E51-AD0C-0EE7B5061F25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520-4E51-AD0C-0EE7B5061F25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520-4E51-AD0C-0EE7B5061F25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520-4E51-AD0C-0EE7B5061F25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520-4E51-AD0C-0EE7B5061F25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520-4E51-AD0C-0EE7B5061F25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520-4E51-AD0C-0EE7B5061F25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520-4E51-AD0C-0EE7B5061F25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520-4E51-AD0C-0EE7B5061F25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2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520-4E51-AD0C-0EE7B5061F25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4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520-4E51-AD0C-0EE7B5061F25}"/>
              </c:ext>
            </c:extLst>
          </c:dPt>
          <c:cat>
            <c:strRef>
              <c:f>'Hourly Distribution of Sessions'!$A$4:$A$27</c:f>
              <c:strCache>
                <c:ptCount val="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</c:strCache>
            </c:strRef>
          </c:cat>
          <c:val>
            <c:numRef>
              <c:f>'Hourly Distribution of Sessions'!$B$4:$B$27</c:f>
              <c:numCache>
                <c:formatCode>General</c:formatCode>
                <c:ptCount val="23"/>
                <c:pt idx="0">
                  <c:v>55</c:v>
                </c:pt>
                <c:pt idx="1">
                  <c:v>49</c:v>
                </c:pt>
                <c:pt idx="2">
                  <c:v>94</c:v>
                </c:pt>
                <c:pt idx="3">
                  <c:v>180</c:v>
                </c:pt>
                <c:pt idx="4">
                  <c:v>298</c:v>
                </c:pt>
                <c:pt idx="5">
                  <c:v>401</c:v>
                </c:pt>
                <c:pt idx="6">
                  <c:v>402</c:v>
                </c:pt>
                <c:pt idx="7">
                  <c:v>541</c:v>
                </c:pt>
                <c:pt idx="8">
                  <c:v>539</c:v>
                </c:pt>
                <c:pt idx="9">
                  <c:v>634</c:v>
                </c:pt>
                <c:pt idx="10">
                  <c:v>568</c:v>
                </c:pt>
                <c:pt idx="11">
                  <c:v>620</c:v>
                </c:pt>
                <c:pt idx="12">
                  <c:v>637</c:v>
                </c:pt>
                <c:pt idx="13">
                  <c:v>627</c:v>
                </c:pt>
                <c:pt idx="14">
                  <c:v>648</c:v>
                </c:pt>
                <c:pt idx="15">
                  <c:v>628</c:v>
                </c:pt>
                <c:pt idx="16">
                  <c:v>647</c:v>
                </c:pt>
                <c:pt idx="17">
                  <c:v>622</c:v>
                </c:pt>
                <c:pt idx="18">
                  <c:v>585</c:v>
                </c:pt>
                <c:pt idx="19">
                  <c:v>498</c:v>
                </c:pt>
                <c:pt idx="20">
                  <c:v>364</c:v>
                </c:pt>
                <c:pt idx="21">
                  <c:v>180</c:v>
                </c:pt>
                <c:pt idx="22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E-F520-4E51-AD0C-0EE7B5061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55945231"/>
        <c:axId val="1955945647"/>
      </c:barChart>
      <c:catAx>
        <c:axId val="1955945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5945647"/>
        <c:crosses val="autoZero"/>
        <c:auto val="1"/>
        <c:lblAlgn val="ctr"/>
        <c:lblOffset val="100"/>
        <c:noMultiLvlLbl val="0"/>
      </c:catAx>
      <c:valAx>
        <c:axId val="1955945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594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Bright TV Mashego Lerato.xlsx]Viewer Demographics!PivotTable4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Viewers by Age Group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'Viewer Demographics'!$B$3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53-444A-ADEC-E307E271513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53-444A-ADEC-E307E271513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753-444A-ADEC-E307E271513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753-444A-ADEC-E307E271513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753-444A-ADEC-E307E271513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753-444A-ADEC-E307E2715134}"/>
              </c:ext>
            </c:extLst>
          </c:dPt>
          <c:cat>
            <c:strRef>
              <c:f>'Viewer Demographics'!$A$4:$A$10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Under 18</c:v>
                </c:pt>
              </c:strCache>
            </c:strRef>
          </c:cat>
          <c:val>
            <c:numRef>
              <c:f>'Viewer Demographics'!$B$4:$B$10</c:f>
              <c:numCache>
                <c:formatCode>General</c:formatCode>
                <c:ptCount val="6"/>
                <c:pt idx="0">
                  <c:v>1539</c:v>
                </c:pt>
                <c:pt idx="1">
                  <c:v>4263</c:v>
                </c:pt>
                <c:pt idx="2">
                  <c:v>2667</c:v>
                </c:pt>
                <c:pt idx="3">
                  <c:v>947</c:v>
                </c:pt>
                <c:pt idx="4">
                  <c:v>270</c:v>
                </c:pt>
                <c:pt idx="5">
                  <c:v>1303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753-444A-ADEC-E307E27151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5915007"/>
        <c:axId val="1825915423"/>
      </c:barChart>
      <c:catAx>
        <c:axId val="182591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5915423"/>
        <c:crosses val="autoZero"/>
        <c:auto val="1"/>
        <c:lblAlgn val="ctr"/>
        <c:lblOffset val="100"/>
        <c:noMultiLvlLbl val="0"/>
      </c:catAx>
      <c:valAx>
        <c:axId val="1825915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591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Bright TV Mashego Lerato.xlsx]Sessions by Gender!PivotTable5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Sessions by Gender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'Sessions by Gender'!$B$3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E4F-4B0D-8D56-4477A5C5AB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E4F-4B0D-8D56-4477A5C5AB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E4F-4B0D-8D56-4477A5C5AB13}"/>
              </c:ext>
            </c:extLst>
          </c:dPt>
          <c:cat>
            <c:strRef>
              <c:f>'Sessions by Gender'!$A$4:$A$7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None</c:v>
                </c:pt>
              </c:strCache>
            </c:strRef>
          </c:cat>
          <c:val>
            <c:numRef>
              <c:f>'Sessions by Gender'!$B$4:$B$7</c:f>
              <c:numCache>
                <c:formatCode>General</c:formatCode>
                <c:ptCount val="3"/>
                <c:pt idx="0">
                  <c:v>1026</c:v>
                </c:pt>
                <c:pt idx="1">
                  <c:v>8956</c:v>
                </c:pt>
                <c:pt idx="2">
                  <c:v>789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4F-4B0D-8D56-4477A5C5A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8791551"/>
        <c:axId val="1648795295"/>
      </c:barChart>
      <c:catAx>
        <c:axId val="1648791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795295"/>
        <c:crosses val="autoZero"/>
        <c:auto val="1"/>
        <c:lblAlgn val="ctr"/>
        <c:lblOffset val="100"/>
        <c:noMultiLvlLbl val="0"/>
      </c:catAx>
      <c:valAx>
        <c:axId val="164879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791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Bright TV Mashego Lerato.xlsx]Sessions by Province!PivotTable6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Sessions by Province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'Sessions by Province'!$B$3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B9-42AD-AAD2-AB68791A486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B9-42AD-AAD2-AB68791A486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B9-42AD-AAD2-AB68791A486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EB9-42AD-AAD2-AB68791A486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EB9-42AD-AAD2-AB68791A486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EB9-42AD-AAD2-AB68791A486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EB9-42AD-AAD2-AB68791A486F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EB9-42AD-AAD2-AB68791A486F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EB9-42AD-AAD2-AB68791A486F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EB9-42AD-AAD2-AB68791A486F}"/>
              </c:ext>
            </c:extLst>
          </c:dPt>
          <c:cat>
            <c:strRef>
              <c:f>'Sessions by Province'!$A$4:$A$14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None</c:v>
                </c:pt>
                <c:pt idx="7">
                  <c:v>North West</c:v>
                </c:pt>
                <c:pt idx="8">
                  <c:v>Northern Cape</c:v>
                </c:pt>
                <c:pt idx="9">
                  <c:v>Western Cape</c:v>
                </c:pt>
              </c:strCache>
            </c:strRef>
          </c:cat>
          <c:val>
            <c:numRef>
              <c:f>'Sessions by Province'!$B$4:$B$14</c:f>
              <c:numCache>
                <c:formatCode>General</c:formatCode>
                <c:ptCount val="10"/>
                <c:pt idx="0">
                  <c:v>706</c:v>
                </c:pt>
                <c:pt idx="1">
                  <c:v>301</c:v>
                </c:pt>
                <c:pt idx="2">
                  <c:v>3751</c:v>
                </c:pt>
                <c:pt idx="3">
                  <c:v>1034</c:v>
                </c:pt>
                <c:pt idx="4">
                  <c:v>789</c:v>
                </c:pt>
                <c:pt idx="5">
                  <c:v>948</c:v>
                </c:pt>
                <c:pt idx="6">
                  <c:v>789</c:v>
                </c:pt>
                <c:pt idx="7">
                  <c:v>353</c:v>
                </c:pt>
                <c:pt idx="8">
                  <c:v>234</c:v>
                </c:pt>
                <c:pt idx="9">
                  <c:v>1866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EB9-42AD-AAD2-AB68791A4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55948975"/>
        <c:axId val="1955936079"/>
      </c:barChart>
      <c:catAx>
        <c:axId val="195594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5936079"/>
        <c:crosses val="autoZero"/>
        <c:auto val="1"/>
        <c:lblAlgn val="ctr"/>
        <c:lblOffset val="100"/>
        <c:noMultiLvlLbl val="0"/>
      </c:catAx>
      <c:valAx>
        <c:axId val="1955936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594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Bright TV Mashego Lerato.xlsx]Content by Channel!PivotTable7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Content by Channel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'Content by Channel'!$B$3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6C-4436-AE19-19E3064FA26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6C-4436-AE19-19E3064FA26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6C-4436-AE19-19E3064FA26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6C-4436-AE19-19E3064FA26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6C-4436-AE19-19E3064FA26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6C-4436-AE19-19E3064FA26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6C-4436-AE19-19E3064FA26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6C-4436-AE19-19E3064FA262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6C-4436-AE19-19E3064FA262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6C-4436-AE19-19E3064FA262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CF6C-4436-AE19-19E3064FA262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CF6C-4436-AE19-19E3064FA262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CF6C-4436-AE19-19E3064FA262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CF6C-4436-AE19-19E3064FA262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CF6C-4436-AE19-19E3064FA262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CF6C-4436-AE19-19E3064FA262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CF6C-4436-AE19-19E3064FA262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CF6C-4436-AE19-19E3064FA262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CF6C-4436-AE19-19E3064FA262}"/>
              </c:ext>
            </c:extLst>
          </c:dPt>
          <c:cat>
            <c:strRef>
              <c:f>'Content by Channel'!$A$4:$A$23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'Content by Channel'!$B$4:$B$23</c:f>
              <c:numCache>
                <c:formatCode>General</c:formatCode>
                <c:ptCount val="19"/>
                <c:pt idx="0">
                  <c:v>859</c:v>
                </c:pt>
                <c:pt idx="1">
                  <c:v>714</c:v>
                </c:pt>
                <c:pt idx="2">
                  <c:v>66</c:v>
                </c:pt>
                <c:pt idx="3">
                  <c:v>793</c:v>
                </c:pt>
                <c:pt idx="4">
                  <c:v>1050</c:v>
                </c:pt>
                <c:pt idx="5">
                  <c:v>505</c:v>
                </c:pt>
                <c:pt idx="6">
                  <c:v>107</c:v>
                </c:pt>
                <c:pt idx="7">
                  <c:v>367</c:v>
                </c:pt>
                <c:pt idx="8">
                  <c:v>1465</c:v>
                </c:pt>
                <c:pt idx="9">
                  <c:v>45</c:v>
                </c:pt>
                <c:pt idx="10">
                  <c:v>2</c:v>
                </c:pt>
                <c:pt idx="11">
                  <c:v>32</c:v>
                </c:pt>
                <c:pt idx="12">
                  <c:v>116</c:v>
                </c:pt>
                <c:pt idx="13">
                  <c:v>255</c:v>
                </c:pt>
                <c:pt idx="14">
                  <c:v>896</c:v>
                </c:pt>
                <c:pt idx="15">
                  <c:v>1662</c:v>
                </c:pt>
                <c:pt idx="16">
                  <c:v>952</c:v>
                </c:pt>
                <c:pt idx="17">
                  <c:v>111</c:v>
                </c:pt>
                <c:pt idx="1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CF6C-4436-AE19-19E3064FA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69236495"/>
        <c:axId val="1969223599"/>
      </c:barChart>
      <c:catAx>
        <c:axId val="196923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9223599"/>
        <c:crosses val="autoZero"/>
        <c:auto val="1"/>
        <c:lblAlgn val="ctr"/>
        <c:lblOffset val="100"/>
        <c:noMultiLvlLbl val="0"/>
      </c:catAx>
      <c:valAx>
        <c:axId val="196922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923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54718"/>
            <a:ext cx="7772400" cy="1470025"/>
          </a:xfrm>
        </p:spPr>
        <p:txBody>
          <a:bodyPr/>
          <a:lstStyle/>
          <a:p>
            <a:r>
              <a:rPr dirty="0" err="1"/>
              <a:t>BrightTV</a:t>
            </a:r>
            <a:r>
              <a:rPr dirty="0"/>
              <a:t> Viewership Analytics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24743"/>
            <a:ext cx="6400800" cy="1752600"/>
          </a:xfrm>
        </p:spPr>
        <p:txBody>
          <a:bodyPr/>
          <a:lstStyle/>
          <a:p>
            <a:r>
              <a:rPr dirty="0"/>
              <a:t>Prepared by </a:t>
            </a:r>
            <a:r>
              <a:rPr dirty="0" err="1"/>
              <a:t>Lerato</a:t>
            </a:r>
            <a:r>
              <a:rPr dirty="0"/>
              <a:t> Mashego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14" y="2979964"/>
            <a:ext cx="4898572" cy="31840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1. Objective</a:t>
            </a:r>
          </a:p>
          <a:p>
            <a:r>
              <a:rPr dirty="0"/>
              <a:t>2. Overview</a:t>
            </a:r>
          </a:p>
          <a:p>
            <a:r>
              <a:rPr dirty="0"/>
              <a:t>3. Daily Sessions (SAST)</a:t>
            </a:r>
          </a:p>
          <a:p>
            <a:r>
              <a:rPr dirty="0"/>
              <a:t>4. Hourly Distribution of Sessions</a:t>
            </a:r>
          </a:p>
          <a:p>
            <a:r>
              <a:rPr dirty="0"/>
              <a:t>5. </a:t>
            </a:r>
            <a:r>
              <a:rPr dirty="0" err="1"/>
              <a:t>Heatmap</a:t>
            </a:r>
            <a:r>
              <a:rPr dirty="0"/>
              <a:t> of Sessions by Day of Week</a:t>
            </a:r>
          </a:p>
          <a:p>
            <a:r>
              <a:rPr dirty="0"/>
              <a:t>6. Viewers by Age Group</a:t>
            </a:r>
          </a:p>
          <a:p>
            <a:r>
              <a:rPr dirty="0"/>
              <a:t>7. Sessions by Gender</a:t>
            </a:r>
          </a:p>
          <a:p>
            <a:r>
              <a:rPr dirty="0"/>
              <a:t>8. Sessions by Province</a:t>
            </a:r>
          </a:p>
          <a:p>
            <a:r>
              <a:rPr dirty="0"/>
              <a:t>9. Content by Channel</a:t>
            </a:r>
          </a:p>
          <a:p>
            <a:r>
              <a:rPr dirty="0"/>
              <a:t>10. Summary &amp; Recommendations</a:t>
            </a:r>
          </a:p>
          <a:p>
            <a:r>
              <a:rPr dirty="0"/>
              <a:t>11.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BrightTV</a:t>
            </a:r>
            <a:r>
              <a:rPr dirty="0"/>
              <a:t> viewership </a:t>
            </a:r>
            <a:r>
              <a:rPr dirty="0" err="1"/>
              <a:t>behaviour</a:t>
            </a:r>
            <a:endParaRPr dirty="0"/>
          </a:p>
          <a:p>
            <a:pPr marL="0" indent="0">
              <a:buNone/>
            </a:pPr>
            <a:r>
              <a:rPr dirty="0"/>
              <a:t>• Identify patterns and trends in consumption</a:t>
            </a:r>
          </a:p>
          <a:p>
            <a:pPr marL="0" indent="0">
              <a:buNone/>
            </a:pPr>
            <a:r>
              <a:rPr dirty="0"/>
              <a:t>• Highlight factors influencing user activity</a:t>
            </a:r>
          </a:p>
          <a:p>
            <a:pPr marL="0" indent="0">
              <a:buNone/>
            </a:pPr>
            <a:r>
              <a:rPr dirty="0"/>
              <a:t>• Provide insights to support subscription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Dataset includes user profiles and viewership sessions</a:t>
            </a:r>
          </a:p>
          <a:p>
            <a:pPr marL="0" indent="0">
              <a:buNone/>
            </a:pPr>
            <a:r>
              <a:rPr dirty="0"/>
              <a:t>• SAST timestamp conversion and feature engineering</a:t>
            </a:r>
          </a:p>
          <a:p>
            <a:pPr marL="0" indent="0">
              <a:buNone/>
            </a:pPr>
            <a:r>
              <a:rPr dirty="0"/>
              <a:t>• Focus: usage trends, demographics, content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Daily Sessions (SAST)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Daily </a:t>
            </a:r>
            <a:r>
              <a:rPr lang="en-US" sz="1800" dirty="0"/>
              <a:t>sessions trend upward overall, with clear spikes in mid-February and late March, reaching over 350 sessions.</a:t>
            </a:r>
            <a:r>
              <a:rPr lang="en-US" dirty="0"/>
              <a:t> </a:t>
            </a: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050055"/>
              </p:ext>
            </p:extLst>
          </p:nvPr>
        </p:nvGraphicFramePr>
        <p:xfrm>
          <a:off x="2286000" y="30185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Hourly Distribution of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Sessions </a:t>
            </a:r>
            <a:r>
              <a:rPr lang="en-US" sz="1800" dirty="0"/>
              <a:t>cluster around specific hours, with higher activity from late morning to early evening</a:t>
            </a:r>
            <a:endParaRPr sz="18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3864340"/>
              </p:ext>
            </p:extLst>
          </p:nvPr>
        </p:nvGraphicFramePr>
        <p:xfrm>
          <a:off x="2441122" y="28931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 err="1"/>
              <a:t>Heatmap</a:t>
            </a:r>
            <a:r>
              <a:rPr u="sng" dirty="0"/>
              <a:t> of Sessions by Day of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800" dirty="0" smtClean="0"/>
              <a:t>The </a:t>
            </a:r>
            <a:r>
              <a:rPr lang="en-US" sz="1800" dirty="0" err="1"/>
              <a:t>heatmap</a:t>
            </a:r>
            <a:r>
              <a:rPr lang="en-US" sz="1800" dirty="0"/>
              <a:t> shows higher activity on weekends, indicating stronger user engagement on Saturdays and Sundays.</a:t>
            </a:r>
            <a:endParaRPr lang="en-ZA" sz="1800" dirty="0" smtClean="0"/>
          </a:p>
          <a:p>
            <a:pPr lvl="1"/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545232"/>
              </p:ext>
            </p:extLst>
          </p:nvPr>
        </p:nvGraphicFramePr>
        <p:xfrm>
          <a:off x="800094" y="3036771"/>
          <a:ext cx="7233555" cy="2139385"/>
        </p:xfrm>
        <a:graphic>
          <a:graphicData uri="http://schemas.openxmlformats.org/drawingml/2006/table">
            <a:tbl>
              <a:tblPr/>
              <a:tblGrid>
                <a:gridCol w="877713">
                  <a:extLst>
                    <a:ext uri="{9D8B030D-6E8A-4147-A177-3AD203B41FA5}">
                      <a16:colId xmlns:a16="http://schemas.microsoft.com/office/drawing/2014/main" val="826244546"/>
                    </a:ext>
                  </a:extLst>
                </a:gridCol>
                <a:gridCol w="847446">
                  <a:extLst>
                    <a:ext uri="{9D8B030D-6E8A-4147-A177-3AD203B41FA5}">
                      <a16:colId xmlns:a16="http://schemas.microsoft.com/office/drawing/2014/main" val="2972402392"/>
                    </a:ext>
                  </a:extLst>
                </a:gridCol>
                <a:gridCol w="161418">
                  <a:extLst>
                    <a:ext uri="{9D8B030D-6E8A-4147-A177-3AD203B41FA5}">
                      <a16:colId xmlns:a16="http://schemas.microsoft.com/office/drawing/2014/main" val="4066578685"/>
                    </a:ext>
                  </a:extLst>
                </a:gridCol>
                <a:gridCol w="161418">
                  <a:extLst>
                    <a:ext uri="{9D8B030D-6E8A-4147-A177-3AD203B41FA5}">
                      <a16:colId xmlns:a16="http://schemas.microsoft.com/office/drawing/2014/main" val="2534840796"/>
                    </a:ext>
                  </a:extLst>
                </a:gridCol>
                <a:gridCol w="161418">
                  <a:extLst>
                    <a:ext uri="{9D8B030D-6E8A-4147-A177-3AD203B41FA5}">
                      <a16:colId xmlns:a16="http://schemas.microsoft.com/office/drawing/2014/main" val="2408400519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2050711885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896391239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1300711872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2700310023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666100550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565559018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1215370669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2675914503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81047112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2942711829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435754353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63560850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4225172555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1375594190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2897963847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147980366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451508313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099984184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578603311"/>
                    </a:ext>
                  </a:extLst>
                </a:gridCol>
                <a:gridCol w="221950">
                  <a:extLst>
                    <a:ext uri="{9D8B030D-6E8A-4147-A177-3AD203B41FA5}">
                      <a16:colId xmlns:a16="http://schemas.microsoft.com/office/drawing/2014/main" val="3395478538"/>
                    </a:ext>
                  </a:extLst>
                </a:gridCol>
                <a:gridCol w="585142">
                  <a:extLst>
                    <a:ext uri="{9D8B030D-6E8A-4147-A177-3AD203B41FA5}">
                      <a16:colId xmlns:a16="http://schemas.microsoft.com/office/drawing/2014/main" val="815304025"/>
                    </a:ext>
                  </a:extLst>
                </a:gridCol>
              </a:tblGrid>
              <a:tr h="196530"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6498"/>
                  </a:ext>
                </a:extLst>
              </a:tr>
              <a:tr h="370615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D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F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3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5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B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D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F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3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5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9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D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F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1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3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5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7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450121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7F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7B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D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7F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9B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7F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153296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B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B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9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1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B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3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E7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377532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5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D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1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98543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3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7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D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3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5843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5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D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5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D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5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044600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5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8F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1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4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44951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5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F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9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F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31688"/>
                  </a:ext>
                </a:extLst>
              </a:tr>
              <a:tr h="196530">
                <a:tc>
                  <a:txBody>
                    <a:bodyPr/>
                    <a:lstStyle/>
                    <a:p>
                      <a:pPr algn="l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541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647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585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498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6887" marR="6887" marT="6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3138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Viewers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4345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25-34 age group has the highest number of viewers, with approximately 4,000 people.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35-44 age group is the second largest, with about 2,500 viewers.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55+ age group has the fewest viewers, totaling less than 500.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18-24, 45-54, and Under 18 groups have moderate viewership, each falling between approximately 1,000 and 2,000 viewers.</a:t>
            </a:r>
            <a:endParaRPr sz="18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8852717"/>
              </p:ext>
            </p:extLst>
          </p:nvPr>
        </p:nvGraphicFramePr>
        <p:xfrm>
          <a:off x="2481943" y="370658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Sessions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majority of sessions are conducted by males.</a:t>
            </a:r>
          </a:p>
          <a:p>
            <a:r>
              <a:rPr lang="en-US" sz="1800" dirty="0"/>
              <a:t>Females represent a smaller proportion, with some sessions also categorized as "None" indicating unspecified gender.</a:t>
            </a:r>
            <a:endParaRPr lang="en-US" sz="18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849890"/>
              </p:ext>
            </p:extLst>
          </p:nvPr>
        </p:nvGraphicFramePr>
        <p:xfrm>
          <a:off x="2383971" y="310242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Sessions by Province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ZA" sz="1800" dirty="0" smtClean="0"/>
          </a:p>
          <a:p>
            <a:pPr marL="457200" lvl="1" indent="0">
              <a:buNone/>
            </a:pPr>
            <a:endParaRPr lang="en-ZA" sz="1800" dirty="0" smtClean="0"/>
          </a:p>
          <a:p>
            <a:pPr lvl="1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55171" y="1327146"/>
            <a:ext cx="78295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Highest Sessions: Gauteng – 3,500+ sessions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Lowest Sessions: Northern Cape – &lt;500 sessions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Moderate Sessions: Eastern Cape, Free State, KwaZulu-Natal, Limpopo, Mpumalanga, North West, Western Cape – ~500–1,500 sessions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Other: "None" category – ~1,000 </a:t>
            </a:r>
            <a:r>
              <a:rPr lang="en-ZA" dirty="0" smtClean="0"/>
              <a:t>sessions</a:t>
            </a:r>
          </a:p>
          <a:p>
            <a:endParaRPr lang="en-ZA" dirty="0"/>
          </a:p>
          <a:p>
            <a:endParaRPr lang="en-ZA" dirty="0" smtClean="0"/>
          </a:p>
          <a:p>
            <a:endParaRPr lang="en-ZA" dirty="0"/>
          </a:p>
          <a:p>
            <a:endParaRPr lang="en-ZA" dirty="0" smtClean="0"/>
          </a:p>
          <a:p>
            <a:endParaRPr lang="en-ZA" dirty="0"/>
          </a:p>
          <a:p>
            <a:endParaRPr lang="en-ZA" dirty="0" smtClean="0"/>
          </a:p>
          <a:p>
            <a:endParaRPr lang="en-ZA" dirty="0"/>
          </a:p>
          <a:p>
            <a:endParaRPr lang="en-ZA" dirty="0" smtClean="0"/>
          </a:p>
          <a:p>
            <a:endParaRPr lang="en-ZA" dirty="0"/>
          </a:p>
          <a:p>
            <a:endParaRPr lang="en-ZA" dirty="0" smtClean="0"/>
          </a:p>
          <a:p>
            <a:endParaRPr lang="en-ZA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9737182"/>
              </p:ext>
            </p:extLst>
          </p:nvPr>
        </p:nvGraphicFramePr>
        <p:xfrm>
          <a:off x="1677761" y="292054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Content by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bar chart indicates varied content engagement across channels.</a:t>
            </a:r>
          </a:p>
          <a:p>
            <a:r>
              <a:rPr lang="en-US" sz="1800" dirty="0"/>
              <a:t>Popular channels include "Africa </a:t>
            </a:r>
            <a:r>
              <a:rPr lang="en-US" sz="1800" dirty="0" smtClean="0"/>
              <a:t>Magic“, ICC Cricket and </a:t>
            </a:r>
            <a:r>
              <a:rPr lang="en-US" sz="1800" dirty="0"/>
              <a:t>"Channel O," with some channels showing minimal activity.</a:t>
            </a:r>
          </a:p>
          <a:p>
            <a:pPr marL="457200" lvl="1" indent="0">
              <a:buNone/>
            </a:pPr>
            <a:endParaRPr sz="18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0002148"/>
              </p:ext>
            </p:extLst>
          </p:nvPr>
        </p:nvGraphicFramePr>
        <p:xfrm>
          <a:off x="2359479" y="278175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Summary</a:t>
            </a:r>
          </a:p>
          <a:p>
            <a:r>
              <a:rPr lang="en-US" sz="1800" dirty="0"/>
              <a:t>Daily sessions show an overall upward trend with clear peak periods.</a:t>
            </a:r>
          </a:p>
          <a:p>
            <a:r>
              <a:rPr lang="en-US" sz="1800" dirty="0"/>
              <a:t>Activity is highest during key hours of the day and on weekends.</a:t>
            </a:r>
          </a:p>
          <a:p>
            <a:r>
              <a:rPr lang="en-US" sz="1800" dirty="0"/>
              <a:t>Male users dominate viewership, with strong activity in provinces like Gauteng.</a:t>
            </a:r>
          </a:p>
          <a:p>
            <a:r>
              <a:rPr lang="en-US" sz="1800" dirty="0"/>
              <a:t>Africa Magic and Channel O stand out as the most-watched channels.</a:t>
            </a:r>
          </a:p>
          <a:p>
            <a:pPr marL="0" indent="0">
              <a:buNone/>
            </a:pPr>
            <a:r>
              <a:rPr lang="en-US" sz="1800" b="1" dirty="0"/>
              <a:t>Recommendations</a:t>
            </a:r>
          </a:p>
          <a:p>
            <a:r>
              <a:rPr lang="en-US" sz="1800" b="1" dirty="0"/>
              <a:t>Maximize Peak Times:</a:t>
            </a:r>
            <a:r>
              <a:rPr lang="en-US" sz="1800" dirty="0"/>
              <a:t> </a:t>
            </a:r>
            <a:r>
              <a:rPr lang="en-US" sz="1800" dirty="0" smtClean="0"/>
              <a:t>Prioritize </a:t>
            </a:r>
            <a:r>
              <a:rPr lang="en-US" sz="1800" dirty="0"/>
              <a:t>content drops and promotions during high-traffic hours and weekends.</a:t>
            </a:r>
          </a:p>
          <a:p>
            <a:r>
              <a:rPr lang="en-US" sz="1800" b="1" dirty="0"/>
              <a:t>Regional Targeting:</a:t>
            </a:r>
            <a:r>
              <a:rPr lang="en-US" sz="1800" dirty="0"/>
              <a:t> Focus marketing on high-engagement provinces like Gauteng.</a:t>
            </a:r>
          </a:p>
          <a:p>
            <a:r>
              <a:rPr lang="en-US" sz="1800" b="1" dirty="0"/>
              <a:t>Boost Female Engagement:</a:t>
            </a:r>
            <a:r>
              <a:rPr lang="en-US" sz="1800" dirty="0"/>
              <a:t> Introduce campaigns and content tailored to female viewers.</a:t>
            </a:r>
          </a:p>
          <a:p>
            <a:r>
              <a:rPr lang="en-US" sz="1800" b="1" dirty="0"/>
              <a:t>Strengthen Top Channels:</a:t>
            </a:r>
            <a:r>
              <a:rPr lang="en-US" sz="1800" dirty="0"/>
              <a:t> Invest in and promote high-performing channels such as Africa Magic and Channel O.</a:t>
            </a:r>
          </a:p>
          <a:p>
            <a:r>
              <a:rPr lang="en-US" sz="1800" b="1" dirty="0"/>
              <a:t>Track Trends:</a:t>
            </a:r>
            <a:r>
              <a:rPr lang="en-US" sz="1800" dirty="0"/>
              <a:t> Continuously monitor viewer </a:t>
            </a:r>
            <a:r>
              <a:rPr lang="en-US" sz="1800" dirty="0" err="1"/>
              <a:t>behaviour</a:t>
            </a:r>
            <a:r>
              <a:rPr lang="en-US" sz="1800" dirty="0"/>
              <a:t> to adapt strategies quickly.</a:t>
            </a:r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Understanding engagement patterns is key to making informed strategic decisions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By focusing on peak viewing times, regional preferences, and popular channels, </a:t>
            </a:r>
            <a:r>
              <a:rPr lang="en-US" sz="2000" dirty="0" err="1"/>
              <a:t>BrightTV</a:t>
            </a:r>
            <a:r>
              <a:rPr lang="en-US" sz="2000" dirty="0"/>
              <a:t> can strengthen both content delivery and marketing. </a:t>
            </a:r>
            <a:endParaRPr lang="en-US" sz="2000" dirty="0" smtClean="0"/>
          </a:p>
          <a:p>
            <a:r>
              <a:rPr lang="en-US" sz="2000" dirty="0" smtClean="0"/>
              <a:t>Improving </a:t>
            </a:r>
            <a:r>
              <a:rPr lang="en-US" sz="2000" dirty="0"/>
              <a:t>gender balance and expanding regional outreach will help broaden the audience. </a:t>
            </a:r>
            <a:endParaRPr lang="en-US" sz="2000" dirty="0" smtClean="0"/>
          </a:p>
          <a:p>
            <a:r>
              <a:rPr lang="en-US" sz="2000" dirty="0" smtClean="0"/>
              <a:t>Ongoing </a:t>
            </a:r>
            <a:r>
              <a:rPr lang="en-US" sz="2000" dirty="0"/>
              <a:t>monitoring and data-driven adjustments will support continued growth and viewer satisfaction, positioning the platform for long-term success.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831</Words>
  <Application>Microsoft Office PowerPoint</Application>
  <PresentationFormat>On-screen Show (4:3)</PresentationFormat>
  <Paragraphs>313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BrightTV Viewership Analytics Case Study</vt:lpstr>
      <vt:lpstr>Table of Contents</vt:lpstr>
      <vt:lpstr>Objective</vt:lpstr>
      <vt:lpstr>Overview</vt:lpstr>
      <vt:lpstr>Daily Sessions (SAST)</vt:lpstr>
      <vt:lpstr>Hourly Distribution of Sessions</vt:lpstr>
      <vt:lpstr>Heatmap of Sessions by Day of Week</vt:lpstr>
      <vt:lpstr>Viewers by Age Group</vt:lpstr>
      <vt:lpstr>Sessions by Gender</vt:lpstr>
      <vt:lpstr>Sessions by Province</vt:lpstr>
      <vt:lpstr>Content by Channel</vt:lpstr>
      <vt:lpstr>Summary &amp;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 Case Study</dc:title>
  <dc:subject/>
  <dc:creator>NL Mashego</dc:creator>
  <cp:keywords/>
  <dc:description>generated using python-pptx</dc:description>
  <cp:lastModifiedBy>NL Mashego</cp:lastModifiedBy>
  <cp:revision>7</cp:revision>
  <dcterms:created xsi:type="dcterms:W3CDTF">2013-01-27T09:14:16Z</dcterms:created>
  <dcterms:modified xsi:type="dcterms:W3CDTF">2025-11-22T17:22:03Z</dcterms:modified>
  <cp:category/>
</cp:coreProperties>
</file>